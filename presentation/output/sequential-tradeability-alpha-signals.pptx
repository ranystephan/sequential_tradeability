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a099ceddc4f89" /><Relationship Type="http://schemas.openxmlformats.org/officeDocument/2006/relationships/extended-properties" Target="/docProps/app.xml" Id="R2882ac79aed64739" /><Relationship Type="http://schemas.openxmlformats.org/officeDocument/2006/relationships/officeDocument" Target="/ppt/presentation.xml" Id="R5d729d4b1449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d4059f3594132"/>
  </p:sldMasterIdLst>
  <p:notesMasterIdLst>
    <p:notesMasterId xmlns:r="http://schemas.openxmlformats.org/officeDocument/2006/relationships" r:id="R726b901a1ae84049"/>
  </p:notesMasterIdLst>
  <p:sldIdLst>
    <p:sldId xmlns:r="http://schemas.openxmlformats.org/officeDocument/2006/relationships" id="256" r:id="Ra031927dd7584760"/>
    <p:sldId xmlns:r="http://schemas.openxmlformats.org/officeDocument/2006/relationships" id="257" r:id="R40c85d6854d245bc"/>
    <p:sldId xmlns:r="http://schemas.openxmlformats.org/officeDocument/2006/relationships" id="258" r:id="R0094f7228eea43a2"/>
    <p:sldId xmlns:r="http://schemas.openxmlformats.org/officeDocument/2006/relationships" id="259" r:id="Rce91d60b4a3f43bc"/>
    <p:sldId xmlns:r="http://schemas.openxmlformats.org/officeDocument/2006/relationships" id="260" r:id="Rad7036d5da1d4b1f"/>
    <p:sldId xmlns:r="http://schemas.openxmlformats.org/officeDocument/2006/relationships" id="261" r:id="Rdb08b8ae48264b73"/>
    <p:sldId xmlns:r="http://schemas.openxmlformats.org/officeDocument/2006/relationships" id="262" r:id="Rc25efa53055d4fd8"/>
    <p:sldId xmlns:r="http://schemas.openxmlformats.org/officeDocument/2006/relationships" id="263" r:id="R230859acdea4498b"/>
    <p:sldId xmlns:r="http://schemas.openxmlformats.org/officeDocument/2006/relationships" id="264" r:id="R50b87851fa074b8f"/>
    <p:sldId xmlns:r="http://schemas.openxmlformats.org/officeDocument/2006/relationships" id="265" r:id="R69e17ba0a8424edd"/>
    <p:sldId xmlns:r="http://schemas.openxmlformats.org/officeDocument/2006/relationships" id="266" r:id="Rc386f01761124c68"/>
    <p:sldId xmlns:r="http://schemas.openxmlformats.org/officeDocument/2006/relationships" id="267" r:id="R6f003b0fbaf84df3"/>
    <p:sldId xmlns:r="http://schemas.openxmlformats.org/officeDocument/2006/relationships" id="268" r:id="Re9e9af7d014f41a1"/>
    <p:sldId xmlns:r="http://schemas.openxmlformats.org/officeDocument/2006/relationships" id="269" r:id="Rb9675c838cb348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d4059f3594132" /><Relationship Type="http://schemas.openxmlformats.org/officeDocument/2006/relationships/theme" Target="/ppt/theme/theme1.xml" Id="R893c42ca464d4f4e" /><Relationship Type="http://schemas.openxmlformats.org/officeDocument/2006/relationships/notesMaster" Target="/ppt/notesMasters/notesMaster1.xml" Id="R726b901a1ae84049" /><Relationship Type="http://schemas.openxmlformats.org/officeDocument/2006/relationships/presProps" Target="/ppt/presProps.xml" Id="R70143626750a412b" /><Relationship Type="http://schemas.openxmlformats.org/officeDocument/2006/relationships/viewProps" Target="/ppt/viewProps.xml" Id="R9783fdd82dd24a49" /><Relationship Type="http://schemas.openxmlformats.org/officeDocument/2006/relationships/tableStyles" Target="/ppt/tableStyles.xml" Id="R93e5c7be29c645fa" /><Relationship Type="http://schemas.openxmlformats.org/officeDocument/2006/relationships/slide" Target="/ppt/slides/slide1.xml" Id="Ra031927dd7584760" /><Relationship Type="http://schemas.openxmlformats.org/officeDocument/2006/relationships/slide" Target="/ppt/slides/slide2.xml" Id="R40c85d6854d245bc" /><Relationship Type="http://schemas.openxmlformats.org/officeDocument/2006/relationships/slide" Target="/ppt/slides/slide3.xml" Id="R0094f7228eea43a2" /><Relationship Type="http://schemas.openxmlformats.org/officeDocument/2006/relationships/slide" Target="/ppt/slides/slide4.xml" Id="Rce91d60b4a3f43bc" /><Relationship Type="http://schemas.openxmlformats.org/officeDocument/2006/relationships/slide" Target="/ppt/slides/slide5.xml" Id="Rad7036d5da1d4b1f" /><Relationship Type="http://schemas.openxmlformats.org/officeDocument/2006/relationships/slide" Target="/ppt/slides/slide6.xml" Id="Rdb08b8ae48264b73" /><Relationship Type="http://schemas.openxmlformats.org/officeDocument/2006/relationships/slide" Target="/ppt/slides/slide7.xml" Id="Rc25efa53055d4fd8" /><Relationship Type="http://schemas.openxmlformats.org/officeDocument/2006/relationships/slide" Target="/ppt/slides/slide8.xml" Id="R230859acdea4498b" /><Relationship Type="http://schemas.openxmlformats.org/officeDocument/2006/relationships/slide" Target="/ppt/slides/slide9.xml" Id="R50b87851fa074b8f" /><Relationship Type="http://schemas.openxmlformats.org/officeDocument/2006/relationships/slide" Target="/ppt/slides/slide10.xml" Id="R69e17ba0a8424edd" /><Relationship Type="http://schemas.openxmlformats.org/officeDocument/2006/relationships/slide" Target="/ppt/slides/slide11.xml" Id="Rc386f01761124c68" /><Relationship Type="http://schemas.openxmlformats.org/officeDocument/2006/relationships/slide" Target="/ppt/slides/slide12.xml" Id="R6f003b0fbaf84df3" /><Relationship Type="http://schemas.openxmlformats.org/officeDocument/2006/relationships/slide" Target="/ppt/slides/slide13.xml" Id="Re9e9af7d014f41a1" /><Relationship Type="http://schemas.openxmlformats.org/officeDocument/2006/relationships/slide" Target="/ppt/slides/slide14.xml" Id="Rb9675c838cb348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bdf15bce934d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7926b9772347d1" /><Relationship Type="http://schemas.openxmlformats.org/officeDocument/2006/relationships/notesMaster" Target="/ppt/notesMasters/notesMaster1.xml" Id="R7df37172e029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bd4579d3f49f2" /><Relationship Type="http://schemas.openxmlformats.org/officeDocument/2006/relationships/notesMaster" Target="/ppt/notesMasters/notesMaster1.xml" Id="Rbb5bb8d63dee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8ceb6a73c43ff" /><Relationship Type="http://schemas.openxmlformats.org/officeDocument/2006/relationships/notesMaster" Target="/ppt/notesMasters/notesMaster1.xml" Id="R40eb71c457c9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9182a9c35b45f1" /><Relationship Type="http://schemas.openxmlformats.org/officeDocument/2006/relationships/notesMaster" Target="/ppt/notesMasters/notesMaster1.xml" Id="R54d57c2fe56d48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549de64dc44e1" /><Relationship Type="http://schemas.openxmlformats.org/officeDocument/2006/relationships/notesMaster" Target="/ppt/notesMasters/notesMaster1.xml" Id="R365e151f43ba4a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7e78f8a45d410d" /><Relationship Type="http://schemas.openxmlformats.org/officeDocument/2006/relationships/notesMaster" Target="/ppt/notesMasters/notesMaster1.xml" Id="Ra4c1f108cd4c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d7a7bb97a04bd8" /><Relationship Type="http://schemas.openxmlformats.org/officeDocument/2006/relationships/notesMaster" Target="/ppt/notesMasters/notesMaster1.xml" Id="Rc104bdfb555941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667e458ec04674" /><Relationship Type="http://schemas.openxmlformats.org/officeDocument/2006/relationships/notesMaster" Target="/ppt/notesMasters/notesMaster1.xml" Id="R033ec7604d5e4d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8c4cebfca74fec" /><Relationship Type="http://schemas.openxmlformats.org/officeDocument/2006/relationships/notesMaster" Target="/ppt/notesMasters/notesMaster1.xml" Id="R1da02dcf2002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242d1e573d4f73" /><Relationship Type="http://schemas.openxmlformats.org/officeDocument/2006/relationships/notesMaster" Target="/ppt/notesMasters/notesMaster1.xml" Id="Re18d79ef49dd49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38d1a63b864c76" /><Relationship Type="http://schemas.openxmlformats.org/officeDocument/2006/relationships/notesMaster" Target="/ppt/notesMasters/notesMaster1.xml" Id="R9735127f40c948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5d45bf1d64928" /><Relationship Type="http://schemas.openxmlformats.org/officeDocument/2006/relationships/notesMaster" Target="/ppt/notesMasters/notesMaster1.xml" Id="R5f4c46430f0a4e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a69cb83e9849ee" /><Relationship Type="http://schemas.openxmlformats.org/officeDocument/2006/relationships/notesMaster" Target="/ppt/notesMasters/notesMaster1.xml" Id="R283e7a79a2ee41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2beae14aa8486e" /><Relationship Type="http://schemas.openxmlformats.org/officeDocument/2006/relationships/notesMaster" Target="/ppt/notesMasters/notesMaster1.xml" Id="Ree7db57ab8b9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a4abf2c4f46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c9b4f5fb3648ee" /><Relationship Type="http://schemas.openxmlformats.org/officeDocument/2006/relationships/slideLayout" Target="/ppt/slideLayouts/slideLayout2.xml" Id="Rc25e45f72fb5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e45f72fb5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2c5fec9d94086" /><Relationship Type="http://schemas.openxmlformats.org/officeDocument/2006/relationships/image" Target="/ppt/media/image.png" Id="R398550b5ac5a4dea" /><Relationship Type="http://schemas.openxmlformats.org/officeDocument/2006/relationships/notesSlide" Target="/ppt/notesSlides/notesSlide1.xml" Id="R6b0e6e44ef18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840aafa8c4f43" /><Relationship Type="http://schemas.openxmlformats.org/officeDocument/2006/relationships/notesSlide" Target="/ppt/notesSlides/notesSlide2.xml" Id="Re4d32de45cba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63052d2f549e1" /><Relationship Type="http://schemas.openxmlformats.org/officeDocument/2006/relationships/image" Target="/ppt/media/image2.png" Id="Rf47c3a1a122146c0" /><Relationship Type="http://schemas.openxmlformats.org/officeDocument/2006/relationships/image" Target="/ppt/media/image3.png" Id="R1e5a229c05514aac" /><Relationship Type="http://schemas.openxmlformats.org/officeDocument/2006/relationships/notesSlide" Target="/ppt/notesSlides/notesSlide3.xml" Id="R928f715290cc4a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e0d6416da74e37" /><Relationship Type="http://schemas.openxmlformats.org/officeDocument/2006/relationships/image" Target="/ppt/media/image4.png" Id="R1a6b85cf85c54fc7" /><Relationship Type="http://schemas.openxmlformats.org/officeDocument/2006/relationships/image" Target="/ppt/media/image5.png" Id="Rae8339103a6544f6" /><Relationship Type="http://schemas.openxmlformats.org/officeDocument/2006/relationships/notesSlide" Target="/ppt/notesSlides/notesSlide4.xml" Id="R8d6ea31656d640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fd69f80d14f8d" /><Relationship Type="http://schemas.openxmlformats.org/officeDocument/2006/relationships/image" Target="/ppt/media/image6.png" Id="Rac10a298d2a94f0b" /><Relationship Type="http://schemas.openxmlformats.org/officeDocument/2006/relationships/notesSlide" Target="/ppt/notesSlides/notesSlide5.xml" Id="Rae80bc9496df49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514534cce407c" /><Relationship Type="http://schemas.openxmlformats.org/officeDocument/2006/relationships/image" Target="/ppt/media/image7.png" Id="Rbc1e21bf4daa47d1" /><Relationship Type="http://schemas.openxmlformats.org/officeDocument/2006/relationships/image" Target="/ppt/media/image8.png" Id="R9b04539131b44ab7" /><Relationship Type="http://schemas.openxmlformats.org/officeDocument/2006/relationships/image" Target="/ppt/media/image9.png" Id="R7240814218da4023" /><Relationship Type="http://schemas.openxmlformats.org/officeDocument/2006/relationships/notesSlide" Target="/ppt/notesSlides/notesSlide6.xml" Id="Rcbe169b87e20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882d1582784607" /><Relationship Type="http://schemas.openxmlformats.org/officeDocument/2006/relationships/image" Target="/ppt/media/image10.png" Id="R1a73b0e153944e08" /><Relationship Type="http://schemas.openxmlformats.org/officeDocument/2006/relationships/image" Target="/ppt/media/image11.png" Id="R026cdacb9a524276" /><Relationship Type="http://schemas.openxmlformats.org/officeDocument/2006/relationships/notesSlide" Target="/ppt/notesSlides/notesSlide7.xml" Id="R38a14234693f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5ae50c19244b4" /><Relationship Type="http://schemas.openxmlformats.org/officeDocument/2006/relationships/image" Target="/ppt/media/image12.png" Id="R2394532d9b67420b" /><Relationship Type="http://schemas.openxmlformats.org/officeDocument/2006/relationships/notesSlide" Target="/ppt/notesSlides/notesSlide8.xml" Id="R22f1b0980e14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9055aa77b4b02" /><Relationship Type="http://schemas.openxmlformats.org/officeDocument/2006/relationships/image" Target="/ppt/media/image13.png" Id="R14d5fe31a6284b94" /><Relationship Type="http://schemas.openxmlformats.org/officeDocument/2006/relationships/notesSlide" Target="/ppt/notesSlides/notesSlide9.xml" Id="Re65d47985c934d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319cbdf02437b" /><Relationship Type="http://schemas.openxmlformats.org/officeDocument/2006/relationships/image" Target="/ppt/media/image14.png" Id="Rdbe2e67e47d84179" /><Relationship Type="http://schemas.openxmlformats.org/officeDocument/2006/relationships/image" Target="/ppt/media/image15.png" Id="R4782be50bcd3444c" /><Relationship Type="http://schemas.openxmlformats.org/officeDocument/2006/relationships/image" Target="/ppt/media/image16.png" Id="Rc6195e894c4343d8" /><Relationship Type="http://schemas.openxmlformats.org/officeDocument/2006/relationships/notesSlide" Target="/ppt/notesSlides/notesSlide10.xml" Id="R9e5a659d85fb45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4ca4d161a4514" /><Relationship Type="http://schemas.openxmlformats.org/officeDocument/2006/relationships/image" Target="/ppt/media/image17.png" Id="R7c0b8a304f1c48c4" /><Relationship Type="http://schemas.openxmlformats.org/officeDocument/2006/relationships/notesSlide" Target="/ppt/notesSlides/notesSlide11.xml" Id="R0f39c7cc93634e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df974bf2840ed" /><Relationship Type="http://schemas.openxmlformats.org/officeDocument/2006/relationships/image" Target="/ppt/media/image18.png" Id="R463ccf3756bd447f" /><Relationship Type="http://schemas.openxmlformats.org/officeDocument/2006/relationships/image" Target="/ppt/media/image19.png" Id="Re68ec86067cb42af" /><Relationship Type="http://schemas.openxmlformats.org/officeDocument/2006/relationships/notesSlide" Target="/ppt/notesSlides/notesSlide12.xml" Id="Rd64e68a0bc7d40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0bf6859ca4949" /><Relationship Type="http://schemas.openxmlformats.org/officeDocument/2006/relationships/image" Target="/ppt/media/image20.png" Id="R570f4de44b004c32" /><Relationship Type="http://schemas.openxmlformats.org/officeDocument/2006/relationships/notesSlide" Target="/ppt/notesSlides/notesSlide13.xml" Id="Rd9705724e0ba41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4bd402e374a5d" /><Relationship Type="http://schemas.openxmlformats.org/officeDocument/2006/relationships/notesSlide" Target="/ppt/notesSlides/notesSlide14.xml" Id="Rfe3db463486d4a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E2E57-6462-4D7C-85E6-FAA11454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2C79E-25AE-4C71-925C-8BDDBC9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5CE5F-62A2-4259-8266-5008E58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Sequential</a:t>
            </a:r>
          </a:p>
          <a:p xmlns:a="http://schemas.openxmlformats.org/drawingml/2006/main">
            <a:pPr algn="l"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Tradeability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841EE-0259-483F-8184-CF703A74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When should a quant team stop researching an alpha and actually trade it?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550b5ac5a4dea"/>
          <a:stretch xmlns:a="http://schemas.openxmlformats.org/drawingml/2006/main"/>
        </p:blipFill>
        <p:spPr>
          <a:xfrm xmlns:a="http://schemas.openxmlformats.org/drawingml/2006/main">
            <a:off x="5257800" y="3681057"/>
            <a:ext cx="6191250" cy="9055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D34BB-6A50-497E-964E-7F257B4A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continue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2FDC-B585-47D2-B181-16432D3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research has option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033E2-F6A3-4E94-BCE2-A22C011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EA0C7-F3D5-4841-B192-B6AE31C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149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trade after costs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2A64A-D2DD-47FA-AE3A-0292B01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51087-E6D6-4911-B9D4-61ECFF9F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14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avoid false discoveries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0DFCD-A3B2-4CCD-A53F-6A0ABEBB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Rany Stephan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83D8E-FA94-4430-A336-EA8F83E9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C44E0-98E8-46C3-9870-0EB5487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25980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68932-5268-4C67-B9F2-FC7BE26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0DD27-504C-4CDF-8499-0BFF580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B3F8862-C495-4DA8-86D3-CAD6C14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3823C94C-91DA-4711-B384-8C9DEAE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C4554-809E-4354-8672-0AF2A706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An alpha is not validated at a date. It is admitted through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32D48-05E2-4E78-8BB8-F14B462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Fixed horizons answer: is it significant now? A research desk needs: is it worth trading yet?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269E8-8F19-4562-BCEF-E4DC1745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7289E-C4A5-421A-A723-6D30B3C0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candidate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FBF92-8D53-4A3F-8BE3-D36BA36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many ideas are weak or dead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89D8-872C-4768-890E-69C5F7C1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147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6580B-37D5-43EC-8CEE-8E8372A6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DCDE-1DE4-4880-A981-95BE43F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evidence arrives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89B76-D19D-44AC-BF7E-66C89FF0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returns, ICs, spreads, decay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F900D-F4F6-4ED3-B483-5FE9807D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662C9-7ECD-42B5-9F1A-CA4B0CE6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89FBB-83E1-4746-BC11-4BF8D2A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A3EBE-7639-4801-B5FD-C0C540A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continue, activate, reject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63054-03B3-4838-9C9A-F16FC497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A55AB-B32A-429D-B5DA-3458A58A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618A8-8562-442F-B165-0C8031A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live capital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31B0-C2CE-4A57-800F-5351535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value must survive costs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761B7-36BA-4D3B-9930-10093DFC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16385-8267-4771-9D85-C5457F3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Waiting can be valuable, because tomorrow's evidence may change the decision.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BECF7-D01C-43C8-991F-998FD72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0B2BE-9B5B-43CB-87FB-A00C1E9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Waiting is also costly, because alpha decays and research capacity is scarce.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ECA0A-2C09-4AF9-9A36-6E9EBCD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45A9E-3754-490D-8BA7-B6FF9B89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5269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72B835-0A05-4ECF-BBB5-7F9CE88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EC3FB-7729-4571-8280-8435446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FC6D3D9-A8BB-4C46-95A3-C8D59E70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F0AF92A-8226-4D95-8147-89DA07A1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PAPER 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0976A-0523-4F5F-8A2C-B8F4F6F8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EKV gives the state: learn an unknown drift from noisy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E6DE7-AE96-4293-A33C-AFE3BF3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mathematical object is a posterior belief, updated continuously as evidence accumulates.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c3a1a122146c0"/>
          <a:stretch xmlns:a="http://schemas.openxmlformats.org/drawingml/2006/main"/>
        </p:blipFill>
        <p:spPr>
          <a:xfrm xmlns:a="http://schemas.openxmlformats.org/drawingml/2006/main">
            <a:off x="742950" y="2874844"/>
            <a:ext cx="4191000" cy="613012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a229c05514aac"/>
          <a:stretch xmlns:a="http://schemas.openxmlformats.org/drawingml/2006/main"/>
        </p:blipFill>
        <p:spPr>
          <a:xfrm xmlns:a="http://schemas.openxmlformats.org/drawingml/2006/main">
            <a:off x="6096000" y="2819116"/>
            <a:ext cx="4953000" cy="72446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3C581-3AC6-4E21-85AD-AB0EC4E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97A42-85ED-4946-885A-97DB2EA9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evidence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9BFBC-22BA-48E3-9B5E-24F83E3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posterior belief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B5F68-616D-436E-ACFB-1332547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14D2E-13A7-4D9E-885D-D81F203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94831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33823-2754-4F3E-A546-93219C1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10319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9D3B5-E44A-4574-81CF-52AC8773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61682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8410B-6F8C-48F3-9CF2-FA8DC51D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87816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2BE06-1185-4A85-8866-46C6F28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9201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BA628-A63E-4212-8A6D-53D052E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773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8442D-36F3-4EA6-BF91-3FA77B7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71369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BE74D-459D-4808-852C-D6413BC9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4035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C73AD-045F-4645-BE23-919002C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Noisy observations reveal signal strength only gradually.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E324F-B201-4648-95F3-20876C2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3105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35643-B476-4B95-BAF7-C1914BB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101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State variables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7E090-D60D-4BCE-BB44-5FD5EFF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posterior mean m</a:t>
            </a:r>
          </a:p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posterior variance 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FC84A-6574-46A5-971F-D52644E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409C7-29BA-43B2-9919-6903B7E1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91965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F8EC2-0956-4B21-9D79-EDCA7F8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BC17B-3836-414B-95BB-0D735CC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3A9076F-409F-4CF6-A183-B9404F2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937DB99B-54DB-4130-8C09-38847DB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CORE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15AC0-B8CB-489E-AFE1-C5139397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Uncertainty is not only error. It is also the speed of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E1AC7-25B2-4878-8B49-10851A2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This is the EKV insight that makes optimal stopping natural.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b85cf85c54fc7"/>
          <a:stretch xmlns:a="http://schemas.openxmlformats.org/drawingml/2006/main"/>
        </p:blipFill>
        <p:spPr>
          <a:xfrm xmlns:a="http://schemas.openxmlformats.org/drawingml/2006/main">
            <a:off x="2340234" y="2495550"/>
            <a:ext cx="5339832" cy="7810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339103a6544f6"/>
          <a:stretch xmlns:a="http://schemas.openxmlformats.org/drawingml/2006/main"/>
        </p:blipFill>
        <p:spPr>
          <a:xfrm xmlns:a="http://schemas.openxmlformats.org/drawingml/2006/main">
            <a:off x="2914844" y="4000500"/>
            <a:ext cx="5600311" cy="819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7792D-0E54-4CE2-8E93-B9CC0BDB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495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BF388-38A8-488E-A624-20034AB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Intuition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6D249-60DF-4F51-B3DD-EB24522C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 posterior variance means bad current estimate, but also faster possible learning.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4CF2F-86F8-4929-8734-22614707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00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108D3-9966-4028-A09F-BE12D5A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3409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Observing costs c per unit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9EDB1-8C38-40B5-8DCA-FC70154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00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E053E-1456-453C-83CB-06F934C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1495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Learning reduces variance at rate Psi squared.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EA48B-452A-43C8-8896-CD1469FD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64793-C307-4C52-BBF0-AFE8C5FB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866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57BAE-737D-477D-B486-E9EC34A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82C38-4F2A-49AF-8032-45358347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317C4445-89CF-479E-B917-8228DA03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653F668C-5D80-4328-88A7-30A606A6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4361B-5045-4BB8-9670-C99DE3F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We keep EKV's filtering state, but change the stopping reward.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C8A5-7CE6-42CF-B039-61E2278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EKV asks when to estimate accurately. We ask when to admit a signal into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40BEB-E970-4847-96C3-3C0941D5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457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7FF40-7DAF-46F0-A2C9-84F7A186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EKV estimation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7D96-9F52-47B8-A102-4EE73021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minimize statistical error</a:t>
            </a:r>
          </a:p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plus observation cost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a298d2a94f0b"/>
          <a:stretch xmlns:a="http://schemas.openxmlformats.org/drawingml/2006/main"/>
        </p:blipFill>
        <p:spPr>
          <a:xfrm xmlns:a="http://schemas.openxmlformats.org/drawingml/2006/main">
            <a:off x="1205593" y="4286250"/>
            <a:ext cx="3646714" cy="533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2F19B-6A29-4E27-83EB-47DED32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4457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03AD-44A6-4B85-8631-72F97DE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Our admission 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8B5D-96F3-4900-9986-DABD731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2410D-957E-4D79-B9C6-9F2DAD49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unknown alpha 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EA75E-1C62-41EA-BCE1-9C83A466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Y_t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307F8-F2EC-49DA-B569-A4EE6B88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cumulative normalized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89B23-9A04-474C-B7DB-50545374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m_t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57879-228A-4180-A318-59EC6E49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posterior mean alpha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726AF-55FD-4FE6-B248-722CE0B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q_t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400AB-FC8D-4934-9F7E-118F9D2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posterior uncertainty and learning speed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7BC54-51C2-4A29-BD51-CC886890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8CBC-D30C-4207-9C66-23A986D1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activation or rejection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878E9-EFB4-436D-BCBE-4B60A80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3AD63-A464-48A5-9FBC-F028313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3656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54A05-FBF8-427A-92DA-D10055F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AD950-2875-4F4C-B0BB-ACF51F2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13066E24-3E73-4FC4-A6B3-9E95D36D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E44F33D-A859-41F6-A179-663378C5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ECONOMIC PAYOFF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B988F-F96E-4F6C-B5DB-4531666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Tradeability means alpha must clear uncertainty and costs.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90D48-8147-474D-8608-01D25C7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 large posterior mean is not enough if it is uncertain, volatile, or expensive to trade.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e21bf4daa47d1"/>
          <a:stretch xmlns:a="http://schemas.openxmlformats.org/drawingml/2006/main"/>
        </p:blipFill>
        <p:spPr>
          <a:xfrm xmlns:a="http://schemas.openxmlformats.org/drawingml/2006/main">
            <a:off x="2292804" y="2457450"/>
            <a:ext cx="4558393" cy="6667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4539131b44ab7"/>
          <a:stretch xmlns:a="http://schemas.openxmlformats.org/drawingml/2006/main"/>
        </p:blipFill>
        <p:spPr>
          <a:xfrm xmlns:a="http://schemas.openxmlformats.org/drawingml/2006/main">
            <a:off x="2187834" y="3638550"/>
            <a:ext cx="5339832" cy="7810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814218da4023"/>
          <a:stretch xmlns:a="http://schemas.openxmlformats.org/drawingml/2006/main"/>
        </p:blipFill>
        <p:spPr>
          <a:xfrm xmlns:a="http://schemas.openxmlformats.org/drawingml/2006/main">
            <a:off x="2084809" y="4953000"/>
            <a:ext cx="4688633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B23D7-0FBF-4743-B74F-6632A81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9AA56-3893-4E58-9BC3-65A9B27B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changes the threshold?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517BB-CB67-41F0-B9DD-E3FDB5F8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19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99D14-BD18-49E4-A016-BDD34CD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Higher q means less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ABFB0-9DF0-4063-8CFD-96DFBE1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9E318-62C4-4511-8A9D-E7501F7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005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Higher sigma means noisier returns.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8FC39-57A0-4259-9DDC-C46C6DB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9CC80-D5A3-4559-8498-39F39531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6725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Higher kappa means larger hurdle.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B43F-23FC-4ED4-B3BB-D628937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69D6C-1C56-4766-8901-C3BE67FC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94825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D335F-0E6A-4745-BEA1-3D1907C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C927F-FDDD-41E6-A3F3-38B0423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7121DDB7-E469-4939-99E2-AC108F1D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6B59618-910F-4D4E-A512-D489EF2E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STOPPING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3BA9-CF39-4641-B4C6-97E48BF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decision boundary is an obstacle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BAAB1-96B2-4653-A4F7-84743A1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At every posterior state, compare immediate tradeability with the value of one more observation.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3b0e153944e08"/>
          <a:stretch xmlns:a="http://schemas.openxmlformats.org/drawingml/2006/main"/>
        </p:blipFill>
        <p:spPr>
          <a:xfrm xmlns:a="http://schemas.openxmlformats.org/drawingml/2006/main">
            <a:off x="2872079" y="2305050"/>
            <a:ext cx="5209592" cy="762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cdacb9a524276"/>
          <a:stretch xmlns:a="http://schemas.openxmlformats.org/drawingml/2006/main"/>
        </p:blipFill>
        <p:spPr>
          <a:xfrm xmlns:a="http://schemas.openxmlformats.org/drawingml/2006/main">
            <a:off x="2685745" y="3409950"/>
            <a:ext cx="6077561" cy="838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5897-27D9-41D4-9925-1AB464D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733CE-4631-4D49-901D-E541015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08336-EF7F-4431-B06B-523D86E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stop: reject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6A4C2-A724-472D-BABB-FBA847F5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payoff is zero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35A98-0D08-497C-9E8D-5439232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14D73-48A3-42CF-BC0E-F69E1AF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57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17FB1-342A-4183-B7E0-3A7E19B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continue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7363A-08DA-4ED4-8D55-F3813774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48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learning option remains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ECA4B-D195-40B8-848E-891A62A8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1015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B73B6-2700-4150-9BD0-65BF3537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4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E7649-A48A-45F1-B4D6-7B6BCCE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stop: activate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429A0-34F0-44E4-928E-920729A6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48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economic payoff dominates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12FC2-54DE-4E46-A6D7-8C43CF5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2951E-5405-4C3F-9A2D-B4782C1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70421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6113E-F343-4AD0-A2B6-487E1B3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848B6-C3C9-48BD-A1EA-AB41E245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5AE21CD3-FAA8-4079-8F63-7671F6D5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361F184-97B9-421D-8AEB-589C2F0C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FIRST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5E546-DBFB-4D1A-9C31-BFDE6B5D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boundary creates a real continuation region.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649D4-2780-4FEA-8C16-8278263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Blue is the option value of learning. Red and gray are the two ways to stop.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4532d9b67420b"/>
          <a:stretch xmlns:a="http://schemas.openxmlformats.org/drawingml/2006/main"/>
        </p:blipFill>
        <p:spPr>
          <a:xfrm xmlns:a="http://schemas.openxmlformats.org/drawingml/2006/main">
            <a:off x="2898715" y="2171700"/>
            <a:ext cx="628027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0F5EB-97D4-4366-9DDF-DDB11F6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1912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This is a central zoom. The full computational grid is wider.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CEE85-0808-426C-8CF9-055AAAEC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ABCD3-F08E-4B5C-A6D7-A975FED1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312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CAE75-BA74-4173-BF30-BA187CC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E3AD4-0437-4D4F-B44E-A6BE282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45F0C5B-7654-42D4-B07F-1F6122B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50FFEEBE-0F45-4E26-8D57-F37C2E2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STRESS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6B9EC-4351-43BF-9FE4-1976D35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Gaussian benchmark exposes a false-discovery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7C139-D1E0-4A18-A314-435978BF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This failure is useful: it tells us what the prior is missing.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5fe31a6284b94"/>
          <a:stretch xmlns:a="http://schemas.openxmlformats.org/drawingml/2006/main"/>
        </p:blipFill>
        <p:spPr>
          <a:xfrm xmlns:a="http://schemas.openxmlformats.org/drawingml/2006/main">
            <a:off x="1122651" y="2343150"/>
            <a:ext cx="6212898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522E9-7416-4C94-8127-1A61730F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628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5E051-2F83-4F61-A3C8-10F8CE3F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What we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187E7-5F21-41DA-BBAC-4883182B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Strong live alphas: dynamic boundary wins.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Dead alpha: Gaussian prior keeps looking for a nonzero drift.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7B60F-05DA-46A1-AA7E-9E953D5C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90.1%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643E5-500C-459F-8CD6-14CBA12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null paths activated by Gaussian dynamic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41390-18CD-486E-AC49-7DEC39E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6FB84-D667-45AF-B86E-959C6DA4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98160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EF367-2371-410E-AFD7-941EF02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AD1CF-59C6-47F6-9FA1-F044401D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57E2754B-C906-4629-8341-9B210332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C9EE526-D166-4493-94FA-557563D0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DEAD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DC4B-B03D-4CCA-8394-B43FDB5A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Most researched signals are not just weak. Many are dead.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23FEA-2DA3-448E-A79E-BCE8912F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So the prior should put mass on exactly zero alpha.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2e67e47d84179"/>
          <a:stretch xmlns:a="http://schemas.openxmlformats.org/drawingml/2006/main"/>
        </p:blipFill>
        <p:spPr>
          <a:xfrm xmlns:a="http://schemas.openxmlformats.org/drawingml/2006/main">
            <a:off x="685800" y="2270362"/>
            <a:ext cx="4381500" cy="640876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be50bcd3444c"/>
          <a:stretch xmlns:a="http://schemas.openxmlformats.org/drawingml/2006/main"/>
        </p:blipFill>
        <p:spPr>
          <a:xfrm xmlns:a="http://schemas.openxmlformats.org/drawingml/2006/main">
            <a:off x="1111509" y="3390900"/>
            <a:ext cx="5339832" cy="7810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95e894c4343d8"/>
          <a:stretch xmlns:a="http://schemas.openxmlformats.org/drawingml/2006/main"/>
        </p:blipFill>
        <p:spPr>
          <a:xfrm xmlns:a="http://schemas.openxmlformats.org/drawingml/2006/main">
            <a:off x="1505144" y="4819650"/>
            <a:ext cx="5600311" cy="819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9DDBD-D925-4502-BCE2-D1B5BED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93789-62D6-4158-87B0-934FD0B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-a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355E8-DBB9-4894-AC8F-029DF5D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short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6B3B6-082C-4F0D-8A7E-E14180DC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35BED-780A-43B4-A292-6A1763F1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A5160-CFF3-4C72-9752-94A6E60B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3B83D-AF9D-4F57-823C-8B78A26D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2B800-A2B2-42D5-9EA5-90C147B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+a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2CDD4-F4E5-4CDB-8E48-489A2348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long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697C7-9DFC-49B7-9928-59B1A5EF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A25E1-FDD7-429C-A68E-86C3EA8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5468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6D512-DFE6-41A1-9EB2-7B03A5E0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69BB9-3DE8-48E9-99EE-8978B4AE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376E9A03-B9CA-48E0-AE84-AE7C6626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332E0BB-2EDB-4F55-9100-F735F009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CONTROLLED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1EC02-7C6B-4E33-B11F-AEC1F92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dead/alive rule buys lower false activation, not free dominance.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ED2F2-7CB2-4698-98EC-0925AF6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That tradeoff is exactly what a serious admission rule should expose.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b8a304f1c48c4"/>
          <a:stretch xmlns:a="http://schemas.openxmlformats.org/drawingml/2006/main"/>
        </p:blipFill>
        <p:spPr>
          <a:xfrm xmlns:a="http://schemas.openxmlformats.org/drawingml/2006/main">
            <a:off x="552450" y="2475442"/>
            <a:ext cx="7810500" cy="329776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22DA4-0A75-4BFD-97C6-E0A58F3A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47.1% -&gt; 39.8%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BA63-6B96-4699-A923-23E88D7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false activation at theta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C9154-7583-4998-91DC-FB17EFF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-0.00560 -&gt; -0.00513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C7CD8-1313-4071-B687-20C5B489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null realized value improves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071B8-1F7A-474A-968E-93888F63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29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cost is lower live-alpha power. That is a power versus false-discovery tradeoff.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0F686-5B76-426F-9F5F-492B89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68A54-25A3-401A-BE56-CED5258A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62008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7B318-DD71-4F8A-98EF-081534D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00C4-0099-40F2-BE2F-EE858840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4D1A2558-B647-4418-8EF7-241F0C9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97AF41C0-C6CE-4B0A-95D6-F3D2339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REAL DATA CALIBRATION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3F930-B87F-4066-9715-BAB63CD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OSAP placebos fall faster as the false-discovery penalty rises.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DCF1A-1E07-41E1-815B-5303A27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placebo keeps volatility structure but destroys persistent directional drift.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ccf3756bd447f"/>
          <a:stretch xmlns:a="http://schemas.openxmlformats.org/drawingml/2006/main"/>
        </p:blipFill>
        <p:spPr>
          <a:xfrm xmlns:a="http://schemas.openxmlformats.org/drawingml/2006/main">
            <a:off x="1626248" y="2095500"/>
            <a:ext cx="3776954" cy="5524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ec86067cb42af"/>
          <a:stretch xmlns:a="http://schemas.openxmlformats.org/drawingml/2006/main"/>
        </p:blipFill>
        <p:spPr>
          <a:xfrm xmlns:a="http://schemas.openxmlformats.org/drawingml/2006/main">
            <a:off x="1626507" y="2914650"/>
            <a:ext cx="5243286" cy="3238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021A2-BD39-4DC0-A0F7-BF21CAF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72.9%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897D2-22EC-4E1A-8B0C-0CAED84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real OSAP activation at eta = 0.04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894FE-5EC8-405D-B85E-6F335280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27.1%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32999-4972-43E7-A843-FCFB9A9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sign-flip placebo activation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8004F-7FAD-4E2D-A56C-81F58A2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57CE-C06F-4075-9F2E-512EB326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17573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A2FD3F-8E8D-4F0E-91B0-E2F48DD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A8409-796C-4687-8B5C-CA6C5E94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9F2C71A0-A27F-431C-A85C-F5F1AAF2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4883AED-C4A6-49DD-8AB5-BBA86EBC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SEQUENTIAL OR FIXED HORIZON?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4254F-7A0E-4C2E-91C3-B98B6A97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sequential rule is not just a fixed-horizon test in disguise.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0CD4D-1658-4ADD-8AE5-9614A76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It reaches near long-horizon admission power earlier, with better post-decision performance.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f4de44b004c32"/>
          <a:stretch xmlns:a="http://schemas.openxmlformats.org/drawingml/2006/main"/>
        </p:blipFill>
        <p:spPr>
          <a:xfrm xmlns:a="http://schemas.openxmlformats.org/drawingml/2006/main">
            <a:off x="704850" y="2458336"/>
            <a:ext cx="7239000" cy="319862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F6881-798C-4780-95FC-5A18877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BA3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BA3FF"/>
                </a:solidFill>
                <a:latin typeface="Aptos"/>
                <a:ea typeface="Aptos"/>
                <a:cs typeface="Aptos"/>
              </a:rPr>
              <a:t>47.9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2E33E-8B63-434C-BB79-6278244B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average sequential decision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14D26-C7A3-49EA-A24C-9129356F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0.545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BF6B-6CAF-4D9F-A2E4-52397DE5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activation-weighted holdout return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B7B2A-9698-47F6-A13C-9675627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578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Compared with 60, 120, and 240 month fixed tests: 0.500, 0.531, 0.444.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EF80C-08AF-432A-8167-859BBE88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EE29A-0D98-4D34-8FFD-388C6D9A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28652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76910-4230-488B-9008-69A10585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5C598-61F9-4F00-8C31-A6149C9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236E71EE-F51F-4BBB-A3FB-C9CC5EA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48B3D64C-259D-47C2-B4A4-9445C681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7C8"/>
                </a:solidFill>
                <a:latin typeface="Aptos"/>
                <a:ea typeface="Aptos"/>
                <a:cs typeface="Aptos"/>
              </a:rPr>
              <a:t>REAL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61BE2-4DC1-4670-BF9B-147C587F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WRDS confirms the practical point: gross alpha is not enough.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32EF3-8137-4945-9912-E9EE81C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 usable admission rule must survive uncertainty and trading frictions.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DE279-9C65-4732-9735-39E5CA1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3434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D116-6020-4070-AAE0-B3D9719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Gross reconstructed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09BCE-E3AB-4801-899A-DE749246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D4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D4A1"/>
                </a:solidFill>
                <a:latin typeface="Aptos"/>
                <a:ea typeface="Aptos"/>
                <a:cs typeface="Aptos"/>
              </a:rPr>
              <a:t>3 /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83ED2-8AD7-4C27-B3EE-CACCB97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activate in standard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4091D-0859-4592-91D6-87D1D1A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1.227%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788A-EE4D-4514-92CA-F07AFD8E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monthly holdout among activated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513AB-9FCC-4638-A0EE-09BB799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43434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2"/>
          </a:solidFill>
          <a:ln xmlns:a="http://schemas.openxmlformats.org/drawingml/2006/main" w="9525">
            <a:solidFill>
              <a:srgbClr val="263A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78558-AB94-4C9F-A1D2-A12548C7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Net range-cost stress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2ABCF-2EA1-4E65-836D-57E4DBD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2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5263"/>
                </a:solidFill>
                <a:latin typeface="Aptos"/>
                <a:ea typeface="Aptos"/>
                <a:cs typeface="Aptos"/>
              </a:rPr>
              <a:t>0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87854-7350-427C-85F7-C7E4CE2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standard-direction activation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341FF-5510-48A8-AEA1-51D4D4A5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range-cost proxy is deliberately harsh, so this is a stress test rather than a final cost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60BA8-B082-438F-BE6E-786ED2C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Final thesis: alpha validation is a sequential real-options problem, not a fixed-date hypothesis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E00AF-7DD9-465F-B63F-512C4BB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MSE342  |  Sequential Tradeability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B0B22-4EAE-44C0-9F3F-6EDF803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7586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2026-05-31T06:38:06.8040000Z</dcterms:created>
  <dcterms:modified xsi:type="dcterms:W3CDTF">2026-05-31T06:38:06.8040000Z</dcterms:modified>
</coreProperties>
</file>